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6858000" type="screen4x3"/>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F8B1A6E-4C7E-4A9A-9E3B-1234567890AB}">
  <a:tblStyle styleId="{8F8B1A6E-4C7E-4A9A-9E3B-1234567890AB}" styleName="Simple Grid">
    <a:wholeTbl>
      <a:tcTxStyle>
        <a:fontRef idx="minor">
          <a:schemeClr val="tx1"/>
        </a:fontRef>
        <a:schemeClr val="tx1"/>
      </a:tcTxStyle>
      <a:tcStyle>
        <a:tcBdr>
          <a:left>
            <a:ln w="6350">
              <a:solidFill>
                <a:schemeClr val="tx1"/>
              </a:solidFill>
            </a:ln>
          </a:left>
          <a:right>
            <a:ln w="6350">
              <a:solidFill>
                <a:schemeClr val="tx1"/>
              </a:solidFill>
            </a:ln>
          </a:right>
          <a:top>
            <a:ln w="6350">
              <a:solidFill>
                <a:schemeClr val="tx1"/>
              </a:solidFill>
            </a:ln>
          </a:top>
          <a:bottom>
            <a:ln w="6350">
              <a:solidFill>
                <a:schemeClr val="tx1"/>
              </a:solidFill>
            </a:ln>
          </a:bottom>
          <a:insideH>
            <a:ln w="6350">
              <a:solidFill>
                <a:schemeClr val="tx1"/>
              </a:solidFill>
            </a:ln>
          </a:insideH>
          <a:insideV>
            <a:ln w="6350">
              <a:solidFill>
                <a:schemeClr val="tx1"/>
              </a:solidFill>
            </a:ln>
          </a:insideV>
        </a:tcBdr>
      </a:tcStyle>
    </a:wholeTbl>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Subtitle 2"/>
          <p:cNvSpPr>
            <a:spLocks noGrp="1"/>
          </p:cNvSpPr>
          <p:nvPr>
            <p:ph type="subTitle" idx="1"/>
          </p:nvPr>
        </p:nvSpPr>
        <p:spPr>
          <a:xfrm>
            <a:off x="1371600" y="3886200"/>
            <a:ext cx="6400800" cy="2435225"/>
          </a:xfrm>
        </p:spPr>
        <p:txBody>
          <a:bodyPr anchor="ctr" lIns="91440" rIns="91440" tIns="45720" bIns="45720"/>
          <a:lstStyle>
            <a:lvl1pPr marL="0" indent="0" algn="ctr">
              <a:buNone/>
              <a:defRPr sz="2000" b="0">
                <a:solidFill>
                  <a:srgbClr val="262626"/>
                </a:solidFill>
              </a:defRPr>
            </a:lvl1pPr>
            <a:lvl2pPr marL="342900" indent="0" algn="ctr">
              <a:buNone/>
              <a:defRPr sz="2000" b="0">
                <a:solidFill>
                  <a:srgbClr val="262626"/>
                </a:solidFill>
              </a:defRPr>
            </a:lvl2pPr>
            <a:lvl3pPr marL="685800" indent="0" algn="ctr">
              <a:buNone/>
              <a:defRPr sz="2000" b="0">
                <a:solidFill>
                  <a:srgbClr val="262626"/>
                </a:solidFill>
              </a:defRPr>
            </a:lvl3pPr>
            <a:lvl4pPr marL="1028700" indent="0" algn="ctr">
              <a:buNone/>
              <a:defRPr sz="2000" b="0">
                <a:solidFill>
                  <a:srgbClr val="262626"/>
                </a:solidFill>
              </a:defRPr>
            </a:lvl4pPr>
            <a:lvl5pPr marL="1371600" indent="0" algn="ctr">
              <a:buNone/>
              <a:defRPr sz="2000" b="0">
                <a:solidFill>
                  <a:srgbClr val="262626"/>
                </a:solidFill>
              </a:defRPr>
            </a:lvl5pPr>
            <a:lvl6pPr marL="1714500" indent="0" algn="ctr">
              <a:buNone/>
              <a:defRPr sz="2000" b="0">
                <a:solidFill>
                  <a:srgbClr val="262626"/>
                </a:solidFill>
              </a:defRPr>
            </a:lvl6pPr>
            <a:lvl7pPr marL="2057400" indent="0" algn="ctr">
              <a:buNone/>
              <a:defRPr sz="2000" b="0">
                <a:solidFill>
                  <a:srgbClr val="262626"/>
                </a:solidFill>
              </a:defRPr>
            </a:lvl7pPr>
            <a:lvl8pPr marL="2400300" indent="0" algn="ctr">
              <a:buNone/>
              <a:defRPr sz="2000" b="0">
                <a:solidFill>
                  <a:srgbClr val="262626"/>
                </a:solidFill>
              </a:defRPr>
            </a:lvl8pPr>
            <a:lvl9pPr marL="2743200" indent="0" algn="ctr">
              <a:buNone/>
              <a:defRPr sz="2000" b="0">
                <a:solidFill>
                  <a:srgbClr val="262626"/>
                </a:solidFill>
              </a:defRPr>
            </a:lvl9pPr>
          </a:lstStyle>
          <a:p>
            <a:r>
              <a:rPr lang="en-US"/>
              <a:t>Click to edit Master subtitle style</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idx="1"/>
          </p:nvPr>
        </p:nvSpPr>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1"/>
            <a:ext cx="7772400" cy="1362075"/>
          </a:xfrm>
          <a:solidFill>
            <a:srgbClr val="ADD8E6"/>
          </a:solidFill>
        </p:spPr>
        <p:txBody>
          <a:bodyPr anchor="ctr" lIns="91440" rIns="91440" tIns="45720" bIns="45720"/>
          <a:lstStyle>
            <a:lvl1pPr algn="ctr">
              <a:defRPr sz="2800" b="0" cap="all">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Text Placeholder 2"/>
          <p:cNvSpPr>
            <a:spLocks noGrp="1"/>
          </p:cNvSpPr>
          <p:nvPr>
            <p:ph type="body" idx="1"/>
          </p:nvPr>
        </p:nvSpPr>
        <p:spPr>
          <a:xfrm>
            <a:off x="722313" y="2906713"/>
            <a:ext cx="7772400" cy="341471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sz="half" idx="1"/>
          </p:nvPr>
        </p:nvSpPr>
        <p:spPr>
          <a:xfrm>
            <a:off x="457200" y="1600201"/>
            <a:ext cx="4038600" cy="4525963"/>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1"/>
            <a:ext cx="4038600" cy="4525963"/>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Text Placeholder 2"/>
          <p:cNvSpPr>
            <a:spLocks noGrp="1"/>
          </p:cNvSpPr>
          <p:nvPr>
            <p:ph type="body" idx="1"/>
          </p:nvPr>
        </p:nvSpPr>
        <p:spPr>
          <a:xfrm>
            <a:off x="457200" y="1535113"/>
            <a:ext cx="4040188" cy="478631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478631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nchor="ctr" lIns="91440" rIns="91440" tIns="45720" bIns="45720"/>
          <a:lstStyle/>
          <a:p>
            <a:endParaRPr lang="en-US"/>
          </a:p>
        </p:txBody>
      </p:sp>
      <p:sp>
        <p:nvSpPr>
          <p:cNvPr id="9" name="Slide Number Placeholder 8"/>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Date Placeholder 2"/>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nchor="ctr" lIns="91440" rIns="91440" tIns="45720" bIns="45720"/>
          <a:lstStyle/>
          <a:p>
            <a:endParaRPr lang="en-US"/>
          </a:p>
        </p:txBody>
      </p:sp>
      <p:sp>
        <p:nvSpPr>
          <p:cNvPr id="5" name="Slide Number Placeholder 4"/>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nchor="ctr" lIns="91440" rIns="91440" tIns="45720" bIns="45720"/>
          <a:lstStyle/>
          <a:p>
            <a:endParaRPr lang="en-US"/>
          </a:p>
        </p:txBody>
      </p:sp>
      <p:sp>
        <p:nvSpPr>
          <p:cNvPr id="4" name="Slide Number Placeholder 3"/>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idx="1"/>
          </p:nvPr>
        </p:nvSpPr>
        <p:spPr>
          <a:xfrm>
            <a:off x="457200" y="2990723"/>
            <a:ext cx="8229600" cy="3330702"/>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600201"/>
            <a:ext cx="8229600" cy="132194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9"/>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nchor="ctr" lIns="91440" rIns="91440" tIns="45720" bIns="45720"/>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5367337"/>
            <a:ext cx="5486400" cy="954088"/>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Vertical Text Placeholder 2"/>
          <p:cNvSpPr>
            <a:spLocks noGrp="1"/>
          </p:cNvSpPr>
          <p:nvPr>
            <p:ph type="body" orient="vert" idx="1"/>
          </p:nvPr>
        </p:nvSpPr>
        <p:spPr/>
        <p:txBody>
          <a:bodyPr vert="eaVert"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9"/>
            <a:ext cx="2057400" cy="5851525"/>
          </a:xfrm>
          <a:solidFill>
            <a:srgbClr val="ADD8E6"/>
          </a:solidFill>
        </p:spPr>
        <p:txBody>
          <a:bodyPr vert="eaVert"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Vertical Text Placeholder 2"/>
          <p:cNvSpPr>
            <a:spLocks noGrp="1"/>
          </p:cNvSpPr>
          <p:nvPr>
            <p:ph type="body" orient="vert" idx="1"/>
          </p:nvPr>
        </p:nvSpPr>
        <p:spPr>
          <a:xfrm>
            <a:off x="457200" y="274639"/>
            <a:ext cx="6019800" cy="6046786"/>
          </a:xfrm>
        </p:spPr>
        <p:txBody>
          <a:bodyPr vert="eaVert"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9"/>
            <a:ext cx="8229600" cy="1143000"/>
          </a:xfrm>
          <a:prstGeom prst="rect">
            <a:avLst/>
          </a:prstGeom>
          <a:solidFill>
            <a:srgbClr val="ADD8E6"/>
          </a:solidFill>
        </p:spPr>
        <p:txBody>
          <a:bodyPr anchor="ctr" bIns="45720" lIns="91440" rIns="91440" rtlCol="0" tIns="45720" vert="horz">
            <a:normAutofit/>
          </a:bodyPr>
          <a:lstStyle>
            <a:lvl1pPr algn="ctr">
              <a:defRPr b="0" sz="2800">
                <a:solidFill>
                  <a:srgbClr val="1F3864"/>
                </a:solidFill>
              </a:defRPr>
            </a:lvl1pPr>
            <a:lvl2pPr>
              <a:defRPr b="0" sz="2800">
                <a:solidFill>
                  <a:srgbClr val="1F3864"/>
                </a:solidFill>
              </a:defRPr>
            </a:lvl2pPr>
            <a:lvl3pPr>
              <a:defRPr b="0" sz="2800">
                <a:solidFill>
                  <a:srgbClr val="1F3864"/>
                </a:solidFill>
              </a:defRPr>
            </a:lvl3pPr>
            <a:lvl4pPr>
              <a:defRPr b="0" sz="2800">
                <a:solidFill>
                  <a:srgbClr val="1F3864"/>
                </a:solidFill>
              </a:defRPr>
            </a:lvl4pPr>
            <a:lvl5pPr>
              <a:defRPr b="0" sz="2800">
                <a:solidFill>
                  <a:srgbClr val="1F3864"/>
                </a:solidFill>
              </a:defRPr>
            </a:lvl5pPr>
            <a:lvl6pPr>
              <a:defRPr b="0" sz="2800">
                <a:solidFill>
                  <a:srgbClr val="1F3864"/>
                </a:solidFill>
              </a:defRPr>
            </a:lvl6pPr>
            <a:lvl7pPr>
              <a:defRPr b="0" sz="2800">
                <a:solidFill>
                  <a:srgbClr val="1F3864"/>
                </a:solidFill>
              </a:defRPr>
            </a:lvl7pPr>
            <a:lvl8pPr>
              <a:defRPr b="0" sz="2800">
                <a:solidFill>
                  <a:srgbClr val="1F3864"/>
                </a:solidFill>
              </a:defRPr>
            </a:lvl8pPr>
            <a:lvl9pPr>
              <a:defRPr b="0" sz="2800">
                <a:solidFill>
                  <a:srgbClr val="1F3864"/>
                </a:solidFill>
              </a:defRPr>
            </a:lvl9pPr>
          </a:lstStyle>
          <a:p>
            <a:r>
              <a:rPr lang="en-US"/>
              <a:t>Click to edit Master title style</a:t>
            </a:r>
          </a:p>
        </p:txBody>
      </p:sp>
      <p:sp>
        <p:nvSpPr>
          <p:cNvPr id="3" name="Text Placeholder 2"/>
          <p:cNvSpPr>
            <a:spLocks noGrp="1"/>
          </p:cNvSpPr>
          <p:nvPr>
            <p:ph idx="1" type="body"/>
          </p:nvPr>
        </p:nvSpPr>
        <p:spPr>
          <a:xfrm>
            <a:off x="457200" y="1600201"/>
            <a:ext cx="8229600" cy="4721224"/>
          </a:xfrm>
          <a:prstGeom prst="rect">
            <a:avLst/>
          </a:prstGeom>
        </p:spPr>
        <p:txBody>
          <a:bodyPr anchor="ctr" bIns="45720" lIns="91440" rIns="91440" rtlCol="0" tIns="45720" vert="horz">
            <a:normAutofit/>
          </a:bodyPr>
          <a:lstStyle>
            <a:lvl1pPr algn="l">
              <a:lnSpc>
                <a:spcPct val="100000"/>
              </a:lnSpc>
              <a:spcAft>
                <a:spcPts val="400"/>
              </a:spcAft>
              <a:defRPr b="0" sz="1800">
                <a:solidFill>
                  <a:srgbClr val="262626"/>
                </a:solidFill>
              </a:defRPr>
            </a:lvl1pPr>
            <a:lvl2pPr>
              <a:lnSpc>
                <a:spcPct val="100000"/>
              </a:lnSpc>
              <a:spcAft>
                <a:spcPts val="400"/>
              </a:spcAft>
              <a:defRPr b="0" sz="1800">
                <a:solidFill>
                  <a:srgbClr val="262626"/>
                </a:solidFill>
              </a:defRPr>
            </a:lvl2pPr>
            <a:lvl3pPr>
              <a:lnSpc>
                <a:spcPct val="100000"/>
              </a:lnSpc>
              <a:spcAft>
                <a:spcPts val="400"/>
              </a:spcAft>
              <a:defRPr b="0" sz="1800">
                <a:solidFill>
                  <a:srgbClr val="262626"/>
                </a:solidFill>
              </a:defRPr>
            </a:lvl3pPr>
            <a:lvl4pPr>
              <a:lnSpc>
                <a:spcPct val="100000"/>
              </a:lnSpc>
              <a:spcAft>
                <a:spcPts val="400"/>
              </a:spcAft>
              <a:defRPr b="0" sz="1800">
                <a:solidFill>
                  <a:srgbClr val="262626"/>
                </a:solidFill>
              </a:defRPr>
            </a:lvl4pPr>
            <a:lvl5pPr>
              <a:lnSpc>
                <a:spcPct val="100000"/>
              </a:lnSpc>
              <a:spcAft>
                <a:spcPts val="400"/>
              </a:spcAft>
              <a:defRPr b="0" sz="1800">
                <a:solidFill>
                  <a:srgbClr val="262626"/>
                </a:solidFill>
              </a:defRPr>
            </a:lvl5pPr>
            <a:lvl6pPr>
              <a:lnSpc>
                <a:spcPct val="100000"/>
              </a:lnSpc>
              <a:spcAft>
                <a:spcPts val="400"/>
              </a:spcAft>
              <a:defRPr b="0" sz="1800">
                <a:solidFill>
                  <a:srgbClr val="262626"/>
                </a:solidFill>
              </a:defRPr>
            </a:lvl6pPr>
            <a:lvl7pPr>
              <a:lnSpc>
                <a:spcPct val="100000"/>
              </a:lnSpc>
              <a:spcAft>
                <a:spcPts val="400"/>
              </a:spcAft>
              <a:defRPr b="0" sz="1800">
                <a:solidFill>
                  <a:srgbClr val="262626"/>
                </a:solidFill>
              </a:defRPr>
            </a:lvl7pPr>
            <a:lvl8pPr>
              <a:lnSpc>
                <a:spcPct val="100000"/>
              </a:lnSpc>
              <a:spcAft>
                <a:spcPts val="400"/>
              </a:spcAft>
              <a:defRPr b="0" sz="1800">
                <a:solidFill>
                  <a:srgbClr val="262626"/>
                </a:solidFill>
              </a:defRPr>
            </a:lvl8pPr>
            <a:lvl9pPr>
              <a:lnSpc>
                <a:spcPct val="100000"/>
              </a:lnSpc>
              <a:spcAft>
                <a:spcPts val="400"/>
              </a:spcAft>
              <a:defRPr b="0" sz="180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6390005"/>
            <a:ext cx="2133600" cy="365125"/>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6390005"/>
            <a:ext cx="2895600" cy="365125"/>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6390005"/>
            <a:ext cx="2133600" cy="365125"/>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solidFill>
            <a:srgbClr val="ADD8E6"/>
          </a:solidFill>
        </p:spPr>
        <p:txBody>
          <a:bodyPr wrap="square" lIns="91440" rIns="91440" tIns="45720" bIns="45720">
            <a:normAutofit/>
          </a:bodyPr>
          <a:lstStyle/>
          <a:p>
            <a:pPr lvl="0" indent="0" marL="0">
              <a:buNone/>
            </a:pPr>
            <a:r>
              <a:rPr/>
              <a:t>Weekly Report</a:t>
            </a:r>
          </a:p>
        </p:txBody>
      </p:sp>
      <p:sp>
        <p:nvSpPr>
          <p:cNvPr id="3" name="Subtitle 2"/>
          <p:cNvSpPr>
            <a:spLocks noGrp="1"/>
          </p:cNvSpPr>
          <p:nvPr>
            <p:ph idx="1" type="subTitle"/>
          </p:nvPr>
        </p:nvSpPr>
        <p:spPr>
          <a:xfrm>
            <a:off x="1371600" y="3886200"/>
            <a:ext cx="6400800" cy="2435225"/>
          </a:xfrm>
        </p:spPr>
        <p:txBody>
          <a:bodyPr wrap="square" lIns="91440" rIns="91440" tIns="45720" bIns="45720">
            <a:normAutofit/>
          </a:bodyPr>
          <a:lstStyle/>
          <a:p>
            <a:pPr lvl="0" indent="0" marL="0">
              <a:buNone/>
            </a:pPr>
            <a:r>
              <a:rPr/>
              <a:t>2026/10/05</a:t>
            </a:r>
            <a:br/>
            <a:br/>
            <a:r>
              <a:rPr/>
              <a:t>Amir Fathi</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Highlights</a:t>
            </a:r>
          </a:p>
        </p:txBody>
      </p:sp>
      <p:sp>
        <p:nvSpPr>
          <p:cNvPr id="3" name="Content Placeholder 2"/>
          <p:cNvSpPr>
            <a:spLocks noGrp="1"/>
          </p:cNvSpPr>
          <p:nvPr>
            <p:ph idx="1"/>
          </p:nvPr>
        </p:nvSpPr>
        <p:spPr/>
        <p:txBody>
          <a:bodyPr wrap="square" lIns="91440" rIns="91440" tIns="45720" bIns="45720">
            <a:normAutofit/>
          </a:bodyPr>
          <a:lstStyle/>
          <a:p>
            <a:pPr lvl="0" marL="338328" indent="-182880"/>
            <a:r>
              <a:rPr/>
              <a:t>Highlights of this week:</a:t>
            </a:r>
          </a:p>
          <a:p>
            <a:pPr lvl="1" marL="676656" indent="-182880"/>
            <a:r>
              <a:rPr/>
              <a:t>Speedup iSCAT filtering</a:t>
            </a:r>
          </a:p>
          <a:p>
            <a:pPr lvl="1" marL="676656" indent="-182880"/>
            <a:r>
              <a:rPr/>
              <a:t>Removing the 20 Hz Vibration noise</a:t>
            </a:r>
          </a:p>
          <a:p>
            <a:pPr lvl="0" marL="338328" indent="-182880"/>
            <a:r>
              <a:rPr/>
              <a:t>Next:</a:t>
            </a:r>
          </a:p>
          <a:p>
            <a:pPr lvl="1" marL="676656" indent="-182880"/>
            <a:r>
              <a:rPr/>
              <a:t>Track the iSCAT data for BMP 50% and 25% samples with MSD analysis</a:t>
            </a:r>
          </a:p>
          <a:p>
            <a:pPr lvl="1" marL="676656" indent="-182880"/>
            <a:r>
              <a:rPr/>
              <a:t>Do SPT with iSCAT for BMP 50% + TAT with higher concentration</a:t>
            </a:r>
          </a:p>
          <a:p>
            <a:pPr lvl="1" marL="676656" indent="-182880"/>
            <a:r>
              <a:rPr/>
              <a:t>Experiment with the idea of fringe suppression with z Stacking</a:t>
            </a:r>
          </a:p>
          <a:p>
            <a:pPr lvl="1" marL="676656" indent="-182880"/>
            <a:r>
              <a:rPr/>
              <a:t>As </a:t>
            </a:r>
            <a:r>
              <a:rPr i="1"/>
              <a:t>in</a:t>
            </a:r>
            <a:r>
              <a:rPr/>
              <a:t> domains show more confinement, find a way to quantify the confinement using gyration tensor, ergodicity analysis, transient confinement analysis, and other metrics</a:t>
            </a:r>
          </a:p>
          <a:p>
            <a:pPr lvl="1" marL="676656" indent="-182880"/>
            <a:r>
              <a:rPr/>
              <a:t>Do more experiments for phase separation</a:t>
            </a:r>
          </a:p>
          <a:p>
            <a:pPr lvl="1" marL="676656" indent="-182880"/>
            <a:r>
              <a:rPr/>
              <a:t>Find a way to calibrate confocal image with the iSCAT image</a:t>
            </a:r>
          </a:p>
          <a:p>
            <a:pPr lvl="1" marL="676656" indent="-182880"/>
            <a:r>
              <a:rPr/>
              <a:t>More simulation for the random phase mask to find the optimal parameters for the diffuser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Flowchart of iSCAT Image Processing</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I have optimized the image processing pipeline for iSCAT data to speed up the filtering process and remove the 20 Hz vibration noise. The flowchart of the new pipeline is shown above. I have speed up the filtering from 20 minutes for 1000 frames down to 1 minute for 4000 frames without losing any particle signal.</a:t>
            </a:r>
          </a:p>
        </p:txBody>
      </p:sp>
      <p:pic>
        <p:nvPicPr>
          <p:cNvPr descr="F:\Amir\OneDrive_Research\Research\Ian%20Liau\Weekly%20Reports\2026\2026.10.05%20(Amir%20Fathi%20-%20iSCAT%20Speedup,%20Vibration%20Filtering)\iscat-flowchart.png" id="0" name="Picture 1"/>
          <p:cNvPicPr>
            <a:picLocks noGrp="1" noChangeAspect="1"/>
          </p:cNvPicPr>
          <p:nvPr/>
        </p:nvPicPr>
        <p:blipFill>
          <a:blip r:embed="rId2"/>
          <a:stretch>
            <a:fillRect/>
          </a:stretch>
        </p:blipFill>
        <p:spPr bwMode="auto">
          <a:xfrm>
            <a:off x="1600200" y="2984500"/>
            <a:ext cx="5943600" cy="3327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20 Hz Vibration Noise Removal</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As seen in the image above, there is a 20 Hz noise when plot the intensity for highlighted ROI. My strongest guess is that the 20 Hz noise is due to the mechanical vibration around the microscope. I have not been able to find the source of the vibration yet, but I have been able to remove the 20 Hz noise by applying a notch filter to the FFT of the image. This noise can result in strong signal fluctuation which made it very hard to consistently track the particles. Previously (last week), I could track the particles but due to the strong signal fluctuation, one single trajectory could be broken into multiple trajectories.</a:t>
            </a:r>
          </a:p>
        </p:txBody>
      </p:sp>
      <p:pic>
        <p:nvPicPr>
          <p:cNvPr descr="F:\Amir\OneDrive_Research\Research\Ian%20Liau\Weekly%20Reports\2026\2026.10.05%20(Amir%20Fathi%20-%20iSCAT%20Speedup,%20Vibration%20Filtering)\vibration-noise.png" id="0" name="Picture 1"/>
          <p:cNvPicPr>
            <a:picLocks noGrp="1" noChangeAspect="1"/>
          </p:cNvPicPr>
          <p:nvPr/>
        </p:nvPicPr>
        <p:blipFill>
          <a:blip r:embed="rId2"/>
          <a:stretch>
            <a:fillRect/>
          </a:stretch>
        </p:blipFill>
        <p:spPr bwMode="auto">
          <a:xfrm>
            <a:off x="660400" y="2984500"/>
            <a:ext cx="7823200" cy="3327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20 Hz Vibration Noise Removal</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After carefully inspecting the frequency spectrum of the ROI, I can identify the 20 Hz noise (18.5 -20.5 Hz) and its harmonic at 40 Hz. Carefully tuning a notch filter with a reasonable bandwidth to just remove the 20 Hz noise and its harmonic, I can remove the noise without losing any particle signal. One step further, I also remove the very low DC frequency (0 - 1 Hz) to remove the slow drift in the signal</a:t>
            </a:r>
          </a:p>
        </p:txBody>
      </p:sp>
      <p:pic>
        <p:nvPicPr>
          <p:cNvPr descr="F:\Amir\OneDrive_Research\Research\Ian%20Liau\Weekly%20Reports\2026\2026.10.05%20(Amir%20Fathi%20-%20iSCAT%20Speedup,%20Vibration%20Filtering)\temporal-notch.png" id="0" name="Picture 1"/>
          <p:cNvPicPr>
            <a:picLocks noGrp="1" noChangeAspect="1"/>
          </p:cNvPicPr>
          <p:nvPr/>
        </p:nvPicPr>
        <p:blipFill>
          <a:blip r:embed="rId2"/>
          <a:stretch>
            <a:fillRect/>
          </a:stretch>
        </p:blipFill>
        <p:spPr bwMode="auto">
          <a:xfrm>
            <a:off x="457200" y="3124200"/>
            <a:ext cx="8229600" cy="3035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20 Hz Vibration Noise Removal</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The temporal notch filter was applied after correcting the image for the uneven spatial intensity distribution. To speed up the process and better filtering, a block of 16 by 16 pixels was used to calculate the FFT and apply the notch filter to every pixel in the block. The image above shows the result of applying the temporal notch filter to the image. The 20 Hz noise is completely removed, and the particle signal is preserved.</a:t>
            </a:r>
          </a:p>
        </p:txBody>
      </p:sp>
      <p:pic>
        <p:nvPicPr>
          <p:cNvPr descr="F:\Amir\OneDrive_Research\Research\Ian%20Liau\Weekly%20Reports\2026\2026.10.05%20(Amir%20Fathi%20-%20iSCAT%20Speedup,%20Vibration%20Filtering)\temporal-notch-image.png" id="0" name="Picture 1"/>
          <p:cNvPicPr>
            <a:picLocks noGrp="1" noChangeAspect="1"/>
          </p:cNvPicPr>
          <p:nvPr/>
        </p:nvPicPr>
        <p:blipFill>
          <a:blip r:embed="rId2"/>
          <a:stretch>
            <a:fillRect/>
          </a:stretch>
        </p:blipFill>
        <p:spPr bwMode="auto">
          <a:xfrm>
            <a:off x="1168400" y="2984500"/>
            <a:ext cx="6807200" cy="33274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Filters Overview</a:t>
            </a:r>
          </a:p>
        </p:txBody>
      </p:sp>
      <p:pic>
        <p:nvPicPr>
          <p:cNvPr descr="F:\Amir\OneDrive_Research\Research\Ian%20Liau\Weekly%20Reports\2026\2026.10.05%20(Amir%20Fathi%20-%20iSCAT%20Speedup,%20Vibration%20Filtering)\all-filters.png" id="0" name="Picture 1"/>
          <p:cNvPicPr>
            <a:picLocks noGrp="1" noChangeAspect="1"/>
          </p:cNvPicPr>
          <p:nvPr/>
        </p:nvPicPr>
        <p:blipFill>
          <a:blip r:embed="rId2"/>
          <a:stretch>
            <a:fillRect/>
          </a:stretch>
        </p:blipFill>
        <p:spPr bwMode="auto">
          <a:xfrm>
            <a:off x="2222500" y="1600200"/>
            <a:ext cx="4699000" cy="47117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Tracking Results</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A side by side comparison of the overlaid trajectories on the original image and the filtered image is shown above. The video of this tracking result is also attached in the report. The source images were 4313 frames recorded at 100 fps. The recording belongs to SLB with 25% BMP at the presence of TAT. I have already several datasets for SLBs with 50% and 25% BMP at the presence of TAT, and I will continue to track the particles in those datasets and do MSD analysis to quantify the diffusion coefficient and confinement of the particles.</a:t>
            </a:r>
          </a:p>
        </p:txBody>
      </p:sp>
      <p:pic>
        <p:nvPicPr>
          <p:cNvPr descr="F:\Amir\OneDrive_Research\Research\Ian%20Liau\Weekly%20Reports\2026\2026.10.05%20(Amir%20Fathi%20-%20iSCAT%20Speedup,%20Vibration%20Filtering)\tracking-compare.png" id="0" name="Picture 1"/>
          <p:cNvPicPr>
            <a:picLocks noGrp="1" noChangeAspect="1"/>
          </p:cNvPicPr>
          <p:nvPr/>
        </p:nvPicPr>
        <p:blipFill>
          <a:blip r:embed="rId2"/>
          <a:stretch>
            <a:fillRect/>
          </a:stretch>
        </p:blipFill>
        <p:spPr bwMode="auto">
          <a:xfrm>
            <a:off x="1181100" y="2984500"/>
            <a:ext cx="6769100" cy="3327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Meeting Summary</a:t>
            </a:r>
          </a:p>
        </p:txBody>
      </p:sp>
      <p:sp>
        <p:nvSpPr>
          <p:cNvPr id="3" name="Content Placeholder 2"/>
          <p:cNvSpPr>
            <a:spLocks noGrp="1"/>
          </p:cNvSpPr>
          <p:nvPr>
            <p:ph idx="1"/>
          </p:nvPr>
        </p:nvSpPr>
        <p:spPr/>
        <p:txBody>
          <a:bodyPr wrap="square" lIns="91440" rIns="91440" tIns="45720" bIns="45720">
            <a:normAutofit/>
          </a:bodyPr>
          <a:lstStyle/>
          <a:p>
            <a:pPr lvl="0" indent="0" marL="0">
              <a:buNone/>
            </a:pPr>
            <a:r>
              <a:rPr b="1"/>
              <a:t>Paul</a:t>
            </a:r>
          </a:p>
          <a:p>
            <a:pPr lvl="0" marL="338328" indent="-182880"/>
            <a:r>
              <a:rPr/>
              <a:t>Writing thesis</a:t>
            </a:r>
          </a:p>
          <a:p>
            <a:pPr lvl="0" indent="0" marL="0">
              <a:buNone/>
            </a:pPr>
            <a:r>
              <a:rPr b="1"/>
              <a:t>Tony</a:t>
            </a:r>
          </a:p>
          <a:p>
            <a:pPr lvl="0" marL="338328" indent="-182880"/>
            <a:r>
              <a:rPr/>
              <a:t>Writing thesis</a:t>
            </a:r>
          </a:p>
          <a:p>
            <a:pPr lvl="0" indent="0" marL="0">
              <a:buNone/>
            </a:pPr>
            <a:r>
              <a:rPr b="1"/>
              <a:t>Peggy</a:t>
            </a:r>
          </a:p>
          <a:p>
            <a:pPr lvl="0" marL="338328" indent="-182880"/>
            <a:r>
              <a:rPr/>
              <a:t>Protein labelling needs more careful preparation to avoid the marker react with the PBS buffer before binding to the protein. The flow experiment will be repeated.</a:t>
            </a:r>
          </a:p>
          <a:p>
            <a:pPr lvl="0" indent="0" marL="0">
              <a:buNone/>
            </a:pPr>
            <a:r>
              <a:rPr b="1"/>
              <a:t>Andrew</a:t>
            </a:r>
          </a:p>
          <a:p>
            <a:pPr lvl="0" marL="338328" indent="-182880"/>
            <a:r>
              <a:rPr/>
              <a:t>Make the TIRF FOV illumination much more uniform.</a:t>
            </a:r>
          </a:p>
          <a:p>
            <a:pPr lvl="0" marL="338328" indent="-182880"/>
            <a:r>
              <a:rPr/>
              <a:t>He will work on comparing the binding affinity for TAT, TAT7+, TAT6+, on BMP and PG membranes.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ndara"/>
        <a:ea typeface="Candara"/>
        <a:cs typeface="Candara"/>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ndara"/>
        <a:ea typeface="Candara"/>
        <a:cs typeface="Candara"/>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Weekly Report</dc:title>
  <dc:creator>Amir Fathi</dc:creator>
  <cp:keywords/>
  <dcterms:created xsi:type="dcterms:W3CDTF">2026-10-02T09:44:54Z</dcterms:created>
  <dcterms:modified xsi:type="dcterms:W3CDTF">2026-10-02T09:44:54Z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math-config">
    <vt:lpwstr/>
  </property>
  <property fmtid="{D5CDD505-2E9C-101B-9397-08002B2CF9AE}" pid="10" name="subtitle">
    <vt:lpwstr>2026/10/05</vt:lpwstr>
  </property>
  <property fmtid="{D5CDD505-2E9C-101B-9397-08002B2CF9AE}" pid="11" name="toc-title">
    <vt:lpwstr>Table of contents</vt:lpwstr>
  </property>
</Properties>
</file>