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8B1A6E-4C7E-4A9A-9E3B-1234567890AB}">
  <a:tblStyle styleId="{8F8B1A6E-4C7E-4A9A-9E3B-1234567890AB}" styleName="Simple Grid">
    <a:wholeTbl>
      <a:tcTxStyle>
        <a:fontRef idx="minor">
          <a:schemeClr val="tx1"/>
        </a:fontRef>
        <a:schemeClr val="tx1"/>
      </a:tcTxStyle>
      <a:tcStyle>
        <a:tcBdr>
          <a:left>
            <a:ln w="6350">
              <a:solidFill>
                <a:schemeClr val="tx1"/>
              </a:solidFill>
            </a:ln>
          </a:left>
          <a:right>
            <a:ln w="6350">
              <a:solidFill>
                <a:schemeClr val="tx1"/>
              </a:solidFill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 w="6350">
              <a:solidFill>
                <a:schemeClr val="tx1"/>
              </a:solidFill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435225"/>
          </a:xfrm>
        </p:spPr>
        <p:txBody>
          <a:bodyPr anchor="ctr" lIns="91440" rIns="91440" tIns="45720" bIns="45720"/>
          <a:lstStyle>
            <a:lvl1pPr marL="0" indent="0" algn="ctr">
              <a:buNone/>
              <a:defRPr sz="2000" b="0">
                <a:solidFill>
                  <a:srgbClr val="262626"/>
                </a:solidFill>
              </a:defRPr>
            </a:lvl1pPr>
            <a:lvl2pPr marL="342900" indent="0" algn="ctr">
              <a:buNone/>
              <a:defRPr sz="2000" b="0">
                <a:solidFill>
                  <a:srgbClr val="262626"/>
                </a:solidFill>
              </a:defRPr>
            </a:lvl2pPr>
            <a:lvl3pPr marL="685800" indent="0" algn="ctr">
              <a:buNone/>
              <a:defRPr sz="2000" b="0">
                <a:solidFill>
                  <a:srgbClr val="262626"/>
                </a:solidFill>
              </a:defRPr>
            </a:lvl3pPr>
            <a:lvl4pPr marL="1028700" indent="0" algn="ctr">
              <a:buNone/>
              <a:defRPr sz="2000" b="0">
                <a:solidFill>
                  <a:srgbClr val="262626"/>
                </a:solidFill>
              </a:defRPr>
            </a:lvl4pPr>
            <a:lvl5pPr marL="1371600" indent="0" algn="ctr">
              <a:buNone/>
              <a:defRPr sz="2000" b="0">
                <a:solidFill>
                  <a:srgbClr val="262626"/>
                </a:solidFill>
              </a:defRPr>
            </a:lvl5pPr>
            <a:lvl6pPr marL="1714500" indent="0" algn="ctr">
              <a:buNone/>
              <a:defRPr sz="2000" b="0">
                <a:solidFill>
                  <a:srgbClr val="262626"/>
                </a:solidFill>
              </a:defRPr>
            </a:lvl6pPr>
            <a:lvl7pPr marL="2057400" indent="0" algn="ctr">
              <a:buNone/>
              <a:defRPr sz="2000" b="0">
                <a:solidFill>
                  <a:srgbClr val="262626"/>
                </a:solidFill>
              </a:defRPr>
            </a:lvl7pPr>
            <a:lvl8pPr marL="2400300" indent="0" algn="ctr">
              <a:buNone/>
              <a:defRPr sz="2000" b="0">
                <a:solidFill>
                  <a:srgbClr val="262626"/>
                </a:solidFill>
              </a:defRPr>
            </a:lvl8pPr>
            <a:lvl9pPr marL="2743200" indent="0" algn="ctr">
              <a:buNone/>
              <a:defRPr sz="2000" b="0">
                <a:solidFill>
                  <a:srgbClr val="262626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 cap="all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3414712"/>
          </a:xfrm>
        </p:spPr>
        <p:txBody>
          <a:bodyPr anchor="ctr" lIns="91440" rIns="91440" tIns="45720" bIns="45720"/>
          <a:lstStyle>
            <a:lvl1pPr marL="338328" indent="-338328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4786312"/>
          </a:xfrm>
        </p:spPr>
        <p:txBody>
          <a:bodyPr anchor="ctr" lIns="91440" rIns="91440" tIns="45720" bIns="45720"/>
          <a:lstStyle>
            <a:lvl1pPr marL="338328" indent="-338328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4786312"/>
          </a:xfrm>
        </p:spPr>
        <p:txBody>
          <a:bodyPr anchor="ctr" lIns="91440" rIns="91440" tIns="45720" bIns="45720"/>
          <a:lstStyle>
            <a:lvl1pPr marL="338328" indent="-338328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90723"/>
            <a:ext cx="8229600" cy="3330702"/>
          </a:xfrm>
        </p:spPr>
        <p:txBody>
          <a:bodyPr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1"/>
            <a:ext cx="8229600" cy="1321942"/>
          </a:xfrm>
        </p:spPr>
        <p:txBody>
          <a:bodyPr anchor="ctr" lIns="91440" rIns="91440" tIns="45720" bIns="45720"/>
          <a:lstStyle>
            <a:lvl1pPr marL="338328" indent="-338328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ctr" lIns="91440" rIns="91440" tIns="45720" bIns="4572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7"/>
            <a:ext cx="5486400" cy="954088"/>
          </a:xfrm>
        </p:spPr>
        <p:txBody>
          <a:bodyPr anchor="ctr" lIns="91440" rIns="91440" tIns="45720" bIns="45720"/>
          <a:lstStyle>
            <a:lvl1pPr marL="338328" indent="-338328" algn="l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buNone/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solidFill>
            <a:srgbClr val="ADD8E6"/>
          </a:solidFill>
        </p:spPr>
        <p:txBody>
          <a:bodyPr vert="eaVert" anchor="ctr" lIns="91440" rIns="91440" tIns="45720" bIns="45720"/>
          <a:lstStyle>
            <a:lvl1pPr algn="ctr">
              <a:defRPr sz="2800" b="0">
                <a:solidFill>
                  <a:srgbClr val="1F3864"/>
                </a:solidFill>
              </a:defRPr>
            </a:lvl1pPr>
            <a:lvl2pPr>
              <a:defRPr sz="2800" b="0">
                <a:solidFill>
                  <a:srgbClr val="1F3864"/>
                </a:solidFill>
              </a:defRPr>
            </a:lvl2pPr>
            <a:lvl3pPr>
              <a:defRPr sz="2800" b="0">
                <a:solidFill>
                  <a:srgbClr val="1F3864"/>
                </a:solidFill>
              </a:defRPr>
            </a:lvl3pPr>
            <a:lvl4pPr>
              <a:defRPr sz="2800" b="0">
                <a:solidFill>
                  <a:srgbClr val="1F3864"/>
                </a:solidFill>
              </a:defRPr>
            </a:lvl4pPr>
            <a:lvl5pPr>
              <a:defRPr sz="2800" b="0">
                <a:solidFill>
                  <a:srgbClr val="1F3864"/>
                </a:solidFill>
              </a:defRPr>
            </a:lvl5pPr>
            <a:lvl6pPr>
              <a:defRPr sz="2800" b="0">
                <a:solidFill>
                  <a:srgbClr val="1F3864"/>
                </a:solidFill>
              </a:defRPr>
            </a:lvl6pPr>
            <a:lvl7pPr>
              <a:defRPr sz="2800" b="0">
                <a:solidFill>
                  <a:srgbClr val="1F3864"/>
                </a:solidFill>
              </a:defRPr>
            </a:lvl7pPr>
            <a:lvl8pPr>
              <a:defRPr sz="2800" b="0">
                <a:solidFill>
                  <a:srgbClr val="1F3864"/>
                </a:solidFill>
              </a:defRPr>
            </a:lvl8pPr>
            <a:lvl9pPr>
              <a:defRPr sz="2800" b="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6046786"/>
          </a:xfrm>
        </p:spPr>
        <p:txBody>
          <a:bodyPr vert="eaVert" anchor="ctr" lIns="91440" rIns="91440" tIns="45720" bIns="45720"/>
          <a:lstStyle>
            <a:lvl1pPr algn="l"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1pPr>
            <a:lvl2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2pPr>
            <a:lvl3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3pPr>
            <a:lvl4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4pPr>
            <a:lvl5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5pPr>
            <a:lvl6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6pPr>
            <a:lvl7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7pPr>
            <a:lvl8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8pPr>
            <a:lvl9pPr marL="338328" indent="-338328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 lIns="91440" rIns="91440" tIns="45720" bIns="4572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 lIns="91440" rIns="91440" tIns="45720" bIns="4572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lIns="91440" rIns="91440" tIns="45720" bIns="4572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solidFill>
            <a:srgbClr val="ADD8E6"/>
          </a:solidFill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b="0" sz="2800">
                <a:solidFill>
                  <a:srgbClr val="1F3864"/>
                </a:solidFill>
              </a:defRPr>
            </a:lvl1pPr>
            <a:lvl2pPr>
              <a:defRPr b="0" sz="2800">
                <a:solidFill>
                  <a:srgbClr val="1F3864"/>
                </a:solidFill>
              </a:defRPr>
            </a:lvl2pPr>
            <a:lvl3pPr>
              <a:defRPr b="0" sz="2800">
                <a:solidFill>
                  <a:srgbClr val="1F3864"/>
                </a:solidFill>
              </a:defRPr>
            </a:lvl3pPr>
            <a:lvl4pPr>
              <a:defRPr b="0" sz="2800">
                <a:solidFill>
                  <a:srgbClr val="1F3864"/>
                </a:solidFill>
              </a:defRPr>
            </a:lvl4pPr>
            <a:lvl5pPr>
              <a:defRPr b="0" sz="2800">
                <a:solidFill>
                  <a:srgbClr val="1F3864"/>
                </a:solidFill>
              </a:defRPr>
            </a:lvl5pPr>
            <a:lvl6pPr>
              <a:defRPr b="0" sz="2800">
                <a:solidFill>
                  <a:srgbClr val="1F3864"/>
                </a:solidFill>
              </a:defRPr>
            </a:lvl6pPr>
            <a:lvl7pPr>
              <a:defRPr b="0" sz="2800">
                <a:solidFill>
                  <a:srgbClr val="1F3864"/>
                </a:solidFill>
              </a:defRPr>
            </a:lvl7pPr>
            <a:lvl8pPr>
              <a:defRPr b="0" sz="2800">
                <a:solidFill>
                  <a:srgbClr val="1F3864"/>
                </a:solidFill>
              </a:defRPr>
            </a:lvl8pPr>
            <a:lvl9pPr>
              <a:defRPr b="0" sz="2800">
                <a:solidFill>
                  <a:srgbClr val="1F3864"/>
                </a:solidFill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1"/>
            <a:ext cx="8229600" cy="4721224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>
            <a:lvl1pPr algn="l"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1pPr>
            <a:lvl2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2pPr>
            <a:lvl3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3pPr>
            <a:lvl4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4pPr>
            <a:lvl5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5pPr>
            <a:lvl6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6pPr>
            <a:lvl7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7pPr>
            <a:lvl8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8pPr>
            <a:lvl9pPr indent="-338328" marL="338328">
              <a:lnSpc>
                <a:spcPct val="100000"/>
              </a:lnSpc>
              <a:spcAft>
                <a:spcPts val="400"/>
              </a:spcAft>
              <a:defRPr b="0" sz="1800">
                <a:solidFill>
                  <a:srgbClr val="26262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90005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90005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90005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Weekly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2435225"/>
          </a:xfrm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2026/08/10</a:t>
            </a:r>
            <a:br/>
            <a:br/>
            <a:r>
              <a:rPr/>
              <a:t>Amir Fathi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91440" rIns="91440" tIns="45720" bIns="45720">
            <a:normAutofit/>
          </a:bodyPr>
          <a:lstStyle/>
          <a:p>
            <a:pPr lvl="0" marL="338328" indent="-338328"/>
            <a:r>
              <a:rPr/>
              <a:t>Highlights of this week:</a:t>
            </a:r>
          </a:p>
          <a:p>
            <a:pPr lvl="1" marL="676656" indent="-338328"/>
            <a:r>
              <a:rPr/>
              <a:t>iSCAT-Confocal colocalization for 50% BMP with DOPE-Biotin and DOPE-Cy5 (unsuccessful)</a:t>
            </a:r>
          </a:p>
          <a:p>
            <a:pPr lvl="1" marL="676656" indent="-338328"/>
            <a:r>
              <a:rPr/>
              <a:t>Prepared new batch of SUV for 25% BMP with DOPE-Biotin and DOPE-Cy5 markers</a:t>
            </a:r>
          </a:p>
          <a:p>
            <a:pPr lvl="1" marL="676656" indent="-338328"/>
            <a:r>
              <a:rPr/>
              <a:t>Single molecule emitter validation</a:t>
            </a:r>
          </a:p>
          <a:p>
            <a:pPr lvl="0" marL="338328" indent="-338328"/>
            <a:r>
              <a:rPr/>
              <a:t>Next:</a:t>
            </a:r>
          </a:p>
          <a:p>
            <a:pPr lvl="1" marL="676656" indent="-338328"/>
            <a:r>
              <a:rPr/>
              <a:t>Validate the single molecule emitter for other data sets with multistep fitting.</a:t>
            </a:r>
          </a:p>
          <a:p>
            <a:pPr lvl="1" marL="676656" indent="-338328"/>
            <a:r>
              <a:rPr/>
              <a:t>Do SPT with iSCAT for BMP 25% + TAT</a:t>
            </a:r>
          </a:p>
          <a:p>
            <a:pPr lvl="1" marL="676656" indent="-338328"/>
            <a:r>
              <a:rPr/>
              <a:t>As </a:t>
            </a:r>
            <a:r>
              <a:rPr i="1"/>
              <a:t>in</a:t>
            </a:r>
            <a:r>
              <a:rPr/>
              <a:t> domains show more confinement, find a way to quantify the confinement using gyration tensor, ergodicity analysis, transient confinement analysis, and other metrics</a:t>
            </a:r>
          </a:p>
          <a:p>
            <a:pPr lvl="1" marL="676656" indent="-338328"/>
            <a:r>
              <a:rPr/>
              <a:t>Do more experiments for phase separation</a:t>
            </a:r>
          </a:p>
          <a:p>
            <a:pPr lvl="1" marL="676656" indent="-338328"/>
            <a:r>
              <a:rPr/>
              <a:t>Find a way to calibrate confocal image with the iSCAT image</a:t>
            </a:r>
          </a:p>
          <a:p>
            <a:pPr lvl="1" marL="676656" indent="-338328"/>
            <a:r>
              <a:rPr/>
              <a:t>More simulation for the random phase mask to find the optimal parameters for the diffuser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50% BMP with DOPE-Biotin and DOPE-Cy5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I prepared two SLB samples. In both sample I can see the membrane (not its fluidity) in the confocal image (DOPE-Cy5 channel). However, When I switch to iSCAT acquisition, I can only see stationary GNPs (not undergoing Brownian motion). I tried different regions of the sample, but I couldn’t find any mobile GNPs. Therefore, I prepared a new batch of SUV for 25% BMP with DOPE-Biotin and DOPE-Cy5 markers which has a better chance of success when preparing the SLB sample.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Single Molecule Emitter Validation (Single Step Fitting)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The histogram shows a unimodal distribution, it is likely that the signal is from a single molecule. In the figure above, the histogram show single-emitter step size (ΔI) 306±158. a.u. Here, I filtered more than 7000 trajectories and found 167 trajectories that shows clear signal drops. I have tested this on sample with TAT-B with 25% BMP. Please note that the analysis was done on the sum of all pixels designated to a particle that trackpy reports.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984500"/>
          <a:ext cx="8229600" cy="3327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{8F8B1A6E-4C7E-4A9A-9E3B-1234567890AB}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 trajectories in dataset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7,747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Trajectories </a:t>
                      </a:r>
                      <a:r>
                        <a:rPr i="1"/>
                        <a:t>≥</a:t>
                      </a:r>
                      <a:r>
                        <a:rPr/>
                        <a:t> 15 frames analyzed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7,747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Qualifying single-step bleach events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163 (2.1% of analyzed)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Average single-molecule step size (</a:t>
                      </a:r>
                      <a:r>
                        <a:rPr i="1"/>
                        <a:t>ΔI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306.98 ± 158.53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Average background noise level (</a:t>
                      </a:r>
                      <a:r>
                        <a:rPr i="1"/>
                        <a:t>σ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56.86 ± 39.64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Average Step Signal-to-Noise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7.06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Single Molecule Emitter Validation (Multistep Fitting)</a:t>
            </a:r>
          </a:p>
        </p:txBody>
      </p:sp>
      <p:pic>
        <p:nvPicPr>
          <p:cNvPr descr="media/multi-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" y="1600200"/>
            <a:ext cx="4013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Although the histogram when only searching for single-step bleach events shows a unimodal distribution, when I can find many trajectories that show multiple bleach events.</a:t>
            </a:r>
          </a:p>
          <a:p>
            <a:pPr lvl="0" indent="-338328" marL="338328">
              <a:buNone/>
            </a:pPr>
            <a:r>
              <a:rPr/>
              <a:t>Total trajectories in dataset: 7747</a:t>
            </a:r>
            <a:br/>
            <a:r>
              <a:rPr/>
              <a:t>Trajectories &gt;= 15 frames analyzed: 7747</a:t>
            </a:r>
            <a:br/>
            <a:r>
              <a:rPr/>
              <a:t>Qualifying stepwise bleaching tracks: 187 (2.4% of analyzed)</a:t>
            </a:r>
            <a:br/>
            <a:r>
              <a:rPr/>
              <a:t>1-step class (Monomer): 89 tracks (47.6%)</a:t>
            </a:r>
            <a:br/>
            <a:r>
              <a:rPr/>
              <a:t>2-step class (Dimer): 88 tracks (47.1%)</a:t>
            </a:r>
            <a:br/>
            <a:r>
              <a:rPr/>
              <a:t>3-step class (Trimer/Aggregate): 7 tracks (3.7%)</a:t>
            </a:r>
            <a:br/>
            <a:r>
              <a:rPr/>
              <a:t>4-step class (Trimer/Aggregate): 2 tracks (1.1%)</a:t>
            </a:r>
            <a:br/>
            <a:r>
              <a:rPr/>
              <a:t>5-step class (Trimer/Aggregate): 1 tracks (0.5%)</a:t>
            </a:r>
            <a:b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Single Molecule Emitter Validation (Histogram)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I also tried to plot the histogram of the signal intensity for all trajectories at different time points. The histogram shows a unimodal distribution, but they could be from multiple emitters. Therefore, I think the multistep fitting is a better way to validate the single molecule emitter.</a:t>
            </a:r>
          </a:p>
        </p:txBody>
      </p:sp>
      <p:pic>
        <p:nvPicPr>
          <p:cNvPr descr="media/signal-h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619500"/>
            <a:ext cx="82296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Inline and display math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This is inline math: </a:t>
            </a:r>
            <a:r>
              <a:rPr i="1"/>
              <a:t>mv² + α × β³</a:t>
            </a:r>
            <a:r>
              <a:rPr/>
              <a:t>, embedded right in a sentence.</a:t>
            </a:r>
          </a:p>
          <a:p>
            <a:pPr lvl="0" indent="-338328" marL="338328">
              <a:buNone/>
            </a:pPr>
            <a:r>
              <a:rPr/>
              <a:t>Note: pandoc’s PPTX writer starts a new slide after an image, so put display math at the end of a slide — one display equation per slide.</a:t>
            </a:r>
          </a:p>
          <a:p>
            <a:pPr lvl="0" indent="-338328" marL="338328">
              <a:buNone/>
            </a:pPr>
            <a:r>
              <a:rPr/>
              <a:t>Subscript and Superscript: </a:t>
            </a:r>
            <a:r>
              <a:rPr i="1"/>
              <a:t>x₁² + x₂² = x₃²</a:t>
            </a:r>
            <a:r>
              <a:rPr/>
              <a:t>.</a:t>
            </a:r>
          </a:p>
          <a:p>
            <a:pPr lvl="0" indent="-338328" marL="338328">
              <a:buNone/>
            </a:pPr>
            <a:r>
              <a:rPr/>
              <a:t>A display equation (kept as the last block of this slide):</a:t>
            </a:r>
          </a:p>
        </p:txBody>
      </p:sp>
      <p:pic>
        <p:nvPicPr>
          <p:cNvPr descr="math-png-cache/eq-d-2e79dd3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59016" y="4333515"/>
            <a:ext cx="2825968" cy="6293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DD8E6"/>
          </a:solidFill>
        </p:spPr>
        <p:txBody>
          <a:bodyPr wrap="square" lIns="91440" rIns="91440" tIns="45720" bIns="45720">
            <a:normAutofit/>
          </a:bodyPr>
          <a:lstStyle/>
          <a:p>
            <a:pPr lvl="0" indent="-338328" marL="338328">
              <a:buNone/>
            </a:pPr>
            <a:r>
              <a:rPr/>
              <a:t>Meeting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91440" rIns="91440" tIns="45720" bIns="45720">
            <a:normAutofit/>
          </a:bodyPr>
          <a:lstStyle/>
          <a:p>
            <a:pPr lvl="0" indent="-338328" marL="338328">
              <a:spcBef>
                <a:spcPts val="3000"/>
              </a:spcBef>
              <a:buNone/>
            </a:pPr>
            <a:r>
              <a:rPr b="1"/>
              <a:t>Paul</a:t>
            </a:r>
          </a:p>
          <a:p>
            <a:pPr lvl="0" marL="338328" indent="-338328"/>
            <a:r>
              <a:rPr/>
              <a:t>The fitting for TAT affinity is improved for better fitting and better visualization.</a:t>
            </a:r>
          </a:p>
          <a:p>
            <a:pPr lvl="0" marL="338328" indent="-338328"/>
            <a:r>
              <a:rPr/>
              <a:t>Time dependent images for SPT analysis is done for 0, 1, 2, 3, 4 and 5 hours after TAT addition.</a:t>
            </a:r>
          </a:p>
          <a:p>
            <a:pPr lvl="0" indent="-338328" marL="338328">
              <a:spcBef>
                <a:spcPts val="3000"/>
              </a:spcBef>
              <a:buNone/>
            </a:pPr>
            <a:r>
              <a:rPr b="1"/>
              <a:t>Tony</a:t>
            </a:r>
          </a:p>
          <a:p>
            <a:pPr lvl="0" marL="338328" indent="-338328"/>
            <a:r>
              <a:rPr/>
              <a:t>…</a:t>
            </a:r>
          </a:p>
          <a:p>
            <a:pPr lvl="0" indent="-338328" marL="338328">
              <a:spcBef>
                <a:spcPts val="3000"/>
              </a:spcBef>
              <a:buNone/>
            </a:pPr>
            <a:r>
              <a:rPr b="1"/>
              <a:t>Peggy</a:t>
            </a:r>
          </a:p>
          <a:p>
            <a:pPr lvl="0" marL="338328" indent="-338328"/>
            <a:r>
              <a:rPr/>
              <a:t>Based on the concentration dependence of LNPs the next round of experiments will be done with 10x higher concentration.</a:t>
            </a:r>
          </a:p>
          <a:p>
            <a:pPr lvl="0" indent="-338328" marL="338328">
              <a:spcBef>
                <a:spcPts val="3000"/>
              </a:spcBef>
              <a:buNone/>
            </a:pPr>
            <a:r>
              <a:rPr b="1"/>
              <a:t>Andrew</a:t>
            </a:r>
          </a:p>
          <a:p>
            <a:pPr lvl="0" marL="338328" indent="-338328"/>
            <a:r>
              <a:rPr/>
              <a:t>Temperature dependent experiment shows that domains formed after TAT addition disappear at 50 °C. However, when the sample is cooled down to room temperature, the domains do not reappear.</a:t>
            </a:r>
          </a:p>
          <a:p>
            <a:pPr lvl="0" marL="338328" indent="-338328"/>
            <a:r>
              <a:rPr/>
              <a:t>Next is to analyze the SPT for DOPE-Atto488 and Cholesterol-Bodipy to see if the diffusion coefficient is different for the two markers.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ndara"/>
        <a:ea typeface="Candara"/>
        <a:cs typeface="Candara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Candara"/>
        <a:cs typeface="Candara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</dc:title>
  <dc:creator>Amir Fathi</dc:creator>
  <cp:keywords/>
  <dcterms:created xsi:type="dcterms:W3CDTF">2026-08-14T06:17:19Z</dcterms:created>
  <dcterms:modified xsi:type="dcterms:W3CDTF">2026-08-14T06:17:19Z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ath-config">
    <vt:lpwstr/>
  </property>
  <property fmtid="{D5CDD505-2E9C-101B-9397-08002B2CF9AE}" pid="10" name="subtitle">
    <vt:lpwstr>2026/08/10</vt:lpwstr>
  </property>
  <property fmtid="{D5CDD505-2E9C-101B-9397-08002B2CF9AE}" pid="11" name="toc-title">
    <vt:lpwstr>Table of contents</vt:lpwstr>
  </property>
</Properties>
</file>